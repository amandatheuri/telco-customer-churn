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4DDB7D-EF24-4037-A0E0-4C490F775715}" v="178" dt="2026-08-09T20:01:36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Customer Churn Analysis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Identifying customer segments at risk of churn and opportunities for retention.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7C7A7-8F4F-E83C-1FB5-81762BD2E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Analyst:</a:t>
            </a:r>
            <a:r>
              <a:rPr lang="en-US">
                <a:ea typeface="+mn-lt"/>
                <a:cs typeface="+mn-lt"/>
              </a:rPr>
              <a:t> Amanda Theuri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Project:</a:t>
            </a:r>
            <a:r>
              <a:rPr lang="en-US">
                <a:ea typeface="+mn-lt"/>
                <a:cs typeface="+mn-lt"/>
              </a:rPr>
              <a:t> Telco Customer Churn Analysis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Tools:</a:t>
            </a:r>
            <a:r>
              <a:rPr lang="en-US">
                <a:ea typeface="+mn-lt"/>
                <a:cs typeface="+mn-lt"/>
              </a:rPr>
              <a:t> Python • Pandas • Matplotlib • Seaborn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90D8D-B673-FE83-5C23-9DFF1B4BEFC4}"/>
              </a:ext>
            </a:extLst>
          </p:cNvPr>
          <p:cNvSpPr txBox="1"/>
          <p:nvPr/>
        </p:nvSpPr>
        <p:spPr>
          <a:xfrm>
            <a:off x="3398121" y="4339635"/>
            <a:ext cx="539845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7,043 customers | 26.54% overall churn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17001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CE4C-A4EC-313E-463A-30CFD94B7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Business Problem &amp; Objective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B2934-403E-E979-1963-A64EA1967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>
                <a:ea typeface="+mn-lt"/>
                <a:cs typeface="+mn-lt"/>
              </a:rPr>
              <a:t>BUSINESS PROBLEM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Customer churn reduces recurring revenue and customer lifetime value. The business needs to understand </a:t>
            </a:r>
            <a:r>
              <a:rPr lang="en-US" b="1">
                <a:ea typeface="+mn-lt"/>
                <a:cs typeface="+mn-lt"/>
              </a:rPr>
              <a:t>which customers are most likely to leave and what characteristics are associated with churn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OBJECTIVE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 customer data to: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Identify high-risk customer segments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Understand factors associated with churn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Identify business risks and retention opportunities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Recommend targeted actions to improve customer retention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Key question:</a:t>
            </a:r>
            <a:endParaRPr lang="en-US"/>
          </a:p>
          <a:p>
            <a:r>
              <a:rPr lang="en-US" i="1">
                <a:ea typeface="+mn-lt"/>
                <a:cs typeface="+mn-lt"/>
              </a:rPr>
              <a:t>Who is most at risk of churning, and where should retention efforts be focused?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15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AAD52C3-F510-4AD2-8B1D-7D8A574B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ABA10-756A-332F-865B-081A28EA8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703705"/>
            <a:ext cx="5248790" cy="40715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23A1D0-67DD-40EB-A4DC-B92E4BE0A714}"/>
              </a:ext>
            </a:extLst>
          </p:cNvPr>
          <p:cNvSpPr txBox="1"/>
          <p:nvPr/>
        </p:nvSpPr>
        <p:spPr>
          <a:xfrm>
            <a:off x="4232297" y="4628687"/>
            <a:ext cx="5130957" cy="165992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Approximately 1 in 4 customers in the dataset has churned.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628ACD-B57A-938D-017C-89FA768852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222728"/>
              </p:ext>
            </p:extLst>
          </p:nvPr>
        </p:nvGraphicFramePr>
        <p:xfrm>
          <a:off x="6182500" y="1640764"/>
          <a:ext cx="5171301" cy="1345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269">
                  <a:extLst>
                    <a:ext uri="{9D8B030D-6E8A-4147-A177-3AD203B41FA5}">
                      <a16:colId xmlns:a16="http://schemas.microsoft.com/office/drawing/2014/main" val="3306147368"/>
                    </a:ext>
                  </a:extLst>
                </a:gridCol>
                <a:gridCol w="1406425">
                  <a:extLst>
                    <a:ext uri="{9D8B030D-6E8A-4147-A177-3AD203B41FA5}">
                      <a16:colId xmlns:a16="http://schemas.microsoft.com/office/drawing/2014/main" val="1623788703"/>
                    </a:ext>
                  </a:extLst>
                </a:gridCol>
                <a:gridCol w="1169759">
                  <a:extLst>
                    <a:ext uri="{9D8B030D-6E8A-4147-A177-3AD203B41FA5}">
                      <a16:colId xmlns:a16="http://schemas.microsoft.com/office/drawing/2014/main" val="1202421439"/>
                    </a:ext>
                  </a:extLst>
                </a:gridCol>
                <a:gridCol w="1191848">
                  <a:extLst>
                    <a:ext uri="{9D8B030D-6E8A-4147-A177-3AD203B41FA5}">
                      <a16:colId xmlns:a16="http://schemas.microsoft.com/office/drawing/2014/main" val="3187354726"/>
                    </a:ext>
                  </a:extLst>
                </a:gridCol>
              </a:tblGrid>
              <a:tr h="9451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Overall Churn Rate</a:t>
                      </a:r>
                    </a:p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latin typeface="Aptos"/>
                      </a:endParaRPr>
                    </a:p>
                  </a:txBody>
                  <a:tcPr marL="90880" marR="90880" marT="45440" marB="4544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Total Customers</a:t>
                      </a:r>
                      <a:endParaRPr lang="en-US" sz="1800"/>
                    </a:p>
                  </a:txBody>
                  <a:tcPr marL="90880" marR="90880" marT="45440" marB="4544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Churned</a:t>
                      </a:r>
                      <a:endParaRPr lang="en-US" sz="1800"/>
                    </a:p>
                  </a:txBody>
                  <a:tcPr marL="90880" marR="90880" marT="45440" marB="4544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Retained</a:t>
                      </a:r>
                      <a:endParaRPr lang="en-US" sz="1800"/>
                    </a:p>
                  </a:txBody>
                  <a:tcPr marL="90880" marR="90880" marT="45440" marB="45440"/>
                </a:tc>
                <a:extLst>
                  <a:ext uri="{0D108BD9-81ED-4DB2-BD59-A6C34878D82A}">
                    <a16:rowId xmlns:a16="http://schemas.microsoft.com/office/drawing/2014/main" val="269079579"/>
                  </a:ext>
                </a:extLst>
              </a:tr>
              <a:tr h="3998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26.54%</a:t>
                      </a:r>
                      <a:endParaRPr lang="en-US" sz="1800"/>
                    </a:p>
                  </a:txBody>
                  <a:tcPr marL="90880" marR="90880" marT="45440" marB="4544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7,043</a:t>
                      </a:r>
                      <a:endParaRPr lang="en-US" sz="1800"/>
                    </a:p>
                  </a:txBody>
                  <a:tcPr marL="90880" marR="90880" marT="45440" marB="4544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1,869</a:t>
                      </a:r>
                      <a:endParaRPr lang="en-US" sz="1800"/>
                    </a:p>
                  </a:txBody>
                  <a:tcPr marL="90880" marR="90880" marT="45440" marB="4544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5,174</a:t>
                      </a:r>
                      <a:endParaRPr lang="en-US" sz="1800"/>
                    </a:p>
                  </a:txBody>
                  <a:tcPr marL="90880" marR="90880" marT="45440" marB="45440"/>
                </a:tc>
                <a:extLst>
                  <a:ext uri="{0D108BD9-81ED-4DB2-BD59-A6C34878D82A}">
                    <a16:rowId xmlns:a16="http://schemas.microsoft.com/office/drawing/2014/main" val="2451526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220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88DD-3F9C-70FE-32A6-ED2FCF8E9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Tenure × Contract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0D6083-9866-DC59-AED0-3355E6B91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156" y="1959971"/>
            <a:ext cx="6096000" cy="35349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DD8410-DDCA-AC77-30FC-FC9BF92853A4}"/>
              </a:ext>
            </a:extLst>
          </p:cNvPr>
          <p:cNvSpPr txBox="1"/>
          <p:nvPr/>
        </p:nvSpPr>
        <p:spPr>
          <a:xfrm>
            <a:off x="7324377" y="1960217"/>
            <a:ext cx="446092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47.44%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Churn among 0–</a:t>
            </a:r>
            <a:r>
              <a:rPr lang="en-US" dirty="0" err="1">
                <a:ea typeface="+mn-lt"/>
                <a:cs typeface="+mn-lt"/>
              </a:rPr>
              <a:t>12 month</a:t>
            </a:r>
            <a:r>
              <a:rPr lang="en-US" dirty="0">
                <a:ea typeface="+mn-lt"/>
                <a:cs typeface="+mn-lt"/>
              </a:rPr>
              <a:t> customers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42.71%</a:t>
            </a:r>
            <a:br>
              <a:rPr lang="en-US" b="1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Churn among month-to-month customers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51.35%</a:t>
            </a:r>
            <a:br>
              <a:rPr lang="en-US" b="1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Churn among 0–12 month + month-to-month customers</a:t>
            </a:r>
            <a:endParaRPr lang="en-US"/>
          </a:p>
          <a:p>
            <a:r>
              <a:rPr lang="en-US" b="1"/>
              <a:t>Key takeaway</a:t>
            </a:r>
          </a:p>
          <a:p>
            <a:r>
              <a:rPr lang="en-US">
                <a:ea typeface="+mn-lt"/>
                <a:cs typeface="+mn-lt"/>
              </a:rPr>
              <a:t>New customers without long-term contracts represent the highest-risk segment identified in the analysis.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49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C5377-FB9A-38E9-48A4-AEDD457C7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2700">
                <a:ea typeface="+mj-lt"/>
                <a:cs typeface="+mj-lt"/>
              </a:rPr>
              <a:t>FIBER AND ELECTRONIC-CHECK CUSTOMERS SHOW ELEVATED CHURN</a:t>
            </a:r>
            <a:endParaRPr lang="en-US" sz="27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78CB92-149E-9F57-EA59-5304E12B5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Both segments show substantially higher churn than the overall 26.54% rate and warrant further investigation.</a:t>
            </a:r>
            <a:endParaRPr lang="en-US" sz="180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E4AF92-0C8D-A4E6-8247-D6B70E6DB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2772061"/>
            <a:ext cx="5481509" cy="33985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832967-AC26-1425-9D7F-BD91CB39E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2952481"/>
            <a:ext cx="5523082" cy="303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41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F4329-13ED-68D9-F398-CD3957D52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Higher Charges &amp; Churn</a:t>
            </a:r>
            <a:endParaRPr lang="en-US" sz="4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1024F9-EEA9-258E-2883-971EBAC79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$74.44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>
                <a:ea typeface="+mn-lt"/>
                <a:cs typeface="+mn-lt"/>
              </a:rPr>
              <a:t> Average monthly charge — churned customers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$61.27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>
                <a:ea typeface="+mn-lt"/>
                <a:cs typeface="+mn-lt"/>
              </a:rPr>
              <a:t> Average monthly charge — retained customers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Churned customers have higher average and median monthly charges, suggesting an association between higher monthly charges and churn.</a:t>
            </a:r>
            <a:endParaRPr lang="en-US"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319446-7B14-179A-E4E4-FAB882955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259" y="2484255"/>
            <a:ext cx="5140822" cy="37142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79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E215C-57AD-26F3-2103-DF1A229D6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Business Risks &amp; Opportunities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114BF-F8FB-3E5F-C7E5-71571B91B6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/>
              <a:t>BUSINESS</a:t>
            </a:r>
            <a:r>
              <a:rPr lang="en-US" b="1">
                <a:ea typeface="+mn-lt"/>
                <a:cs typeface="+mn-lt"/>
              </a:rPr>
              <a:t> RISKS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01 — Early customer attrition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High first-year churn may reduce customer lifetime value.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02 — Revenue exposure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High churn among fiber customers could affect recurring revenue.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03 — High-risk customer concentration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A large month-to-month customer base creates significant retention exposure.</a:t>
            </a:r>
            <a:endParaRPr lang="en-US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65A24-7B67-2150-2FC6-85CE9DCFE5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/>
              <a:t>OPPORTUNITIES</a:t>
            </a:r>
          </a:p>
          <a:p>
            <a:r>
              <a:rPr lang="en-US">
                <a:ea typeface="+mn-lt"/>
                <a:cs typeface="+mn-lt"/>
              </a:rPr>
              <a:t>01 — First-year retention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Strengthen onboarding and early customer engagement.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02 — Contract conversion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Encourage suitable customers to move to longer-term contracts.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03 — Fiber experience improvement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Investigate service quality, pricing and support among fiber customers.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355D-ECA5-E3C9-3A45-6E06C006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Recommendations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A653-34EC-2993-CB79-56761B591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01 — Launch an early-tenure retention program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Target customers during their first 12 months.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02 — Encourage longer-term contracts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Use targeted incentives for suitable month-to-month customers.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03 — Investigate fiber churn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Review pricing, reliability, technical support and customer complaints.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04 — Promote automatic payment methods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Encourage electronic-check customers to consider automatic payment options while investigating the underlying churn relationship.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05 — Build a churn-risk segmentation strategy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Prioritize customers exhibiting multiple risk indicators.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165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52F0-48AF-3626-AEC4-D74F1C165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E813-353D-2086-9C1B-395EA1D7D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70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Customer Churn Analysis</vt:lpstr>
      <vt:lpstr>PowerPoint Presentation</vt:lpstr>
      <vt:lpstr>Business Problem &amp; Objective</vt:lpstr>
      <vt:lpstr>PowerPoint Presentation</vt:lpstr>
      <vt:lpstr>Tenure × Contract</vt:lpstr>
      <vt:lpstr>FIBER AND ELECTRONIC-CHECK CUSTOMERS SHOW ELEVATED CHURN</vt:lpstr>
      <vt:lpstr>Higher Charges &amp; Churn</vt:lpstr>
      <vt:lpstr>Business Risks &amp; Opportunities</vt:lpstr>
      <vt:lpstr>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108</cp:revision>
  <dcterms:created xsi:type="dcterms:W3CDTF">2026-08-09T19:31:30Z</dcterms:created>
  <dcterms:modified xsi:type="dcterms:W3CDTF">2026-08-09T20:05:29Z</dcterms:modified>
</cp:coreProperties>
</file>